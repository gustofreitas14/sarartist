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6" r:id="rId7"/>
    <p:sldId id="263" r:id="rId8"/>
    <p:sldId id="264" r:id="rId9"/>
    <p:sldId id="265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95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8054" y="214819"/>
            <a:ext cx="1402687" cy="2805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6129" y="1086061"/>
            <a:ext cx="5859780" cy="12073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50312" y="3324345"/>
            <a:ext cx="493522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173" y="3078451"/>
            <a:ext cx="682879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PT" sz="9600" spc="-434" dirty="0">
                <a:solidFill>
                  <a:srgbClr val="FFFFFF"/>
                </a:solidFill>
                <a:latin typeface="Arial Black"/>
                <a:cs typeface="Arial Black"/>
              </a:rPr>
              <a:t>Sarartist</a:t>
            </a:r>
            <a:endParaRPr sz="96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5955" y="4750040"/>
            <a:ext cx="6737984" cy="24130"/>
          </a:xfrm>
          <a:custGeom>
            <a:avLst/>
            <a:gdLst/>
            <a:ahLst/>
            <a:cxnLst/>
            <a:rect l="l" t="t" r="r" b="b"/>
            <a:pathLst>
              <a:path w="6737984" h="24129">
                <a:moveTo>
                  <a:pt x="0" y="0"/>
                </a:moveTo>
                <a:lnTo>
                  <a:pt x="6737678" y="23699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955" y="925973"/>
            <a:ext cx="1980063" cy="3953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9600" y="2743200"/>
            <a:ext cx="3962400" cy="24384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0447" y="4761217"/>
            <a:ext cx="5969000" cy="17517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Sistema</a:t>
            </a:r>
            <a:r>
              <a:rPr sz="2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PT" sz="2800" dirty="0">
                <a:solidFill>
                  <a:srgbClr val="FFFFFF"/>
                </a:solidFill>
                <a:latin typeface="Lucida Sans Unicode"/>
                <a:cs typeface="Lucida Sans Unicode"/>
              </a:rPr>
              <a:t>de Gestão de um salão de beleza</a:t>
            </a:r>
            <a:endParaRPr sz="2800" dirty="0">
              <a:latin typeface="Lucida Sans Unicode"/>
              <a:cs typeface="Lucida Sans Unicode"/>
            </a:endParaRPr>
          </a:p>
          <a:p>
            <a:pPr marL="24130">
              <a:lnSpc>
                <a:spcPct val="100000"/>
              </a:lnSpc>
              <a:spcBef>
                <a:spcPts val="1820"/>
              </a:spcBef>
            </a:pPr>
            <a:r>
              <a:rPr lang="pt-PT" sz="1400" dirty="0">
                <a:solidFill>
                  <a:srgbClr val="FFFFFF"/>
                </a:solidFill>
                <a:latin typeface="Arial"/>
                <a:cs typeface="Arial"/>
              </a:rPr>
              <a:t>João Augusto Ferreira Freitas</a:t>
            </a:r>
            <a:endParaRPr sz="1400" dirty="0">
              <a:latin typeface="Arial"/>
              <a:cs typeface="Arial"/>
            </a:endParaRPr>
          </a:p>
          <a:p>
            <a:pPr marL="24130" marR="268224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Licenciatura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Engenharia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Informática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Orientador:</a:t>
            </a:r>
            <a:r>
              <a:rPr sz="1400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r>
              <a:rPr sz="140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Hugo</a:t>
            </a:r>
            <a:r>
              <a:rPr sz="140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Barbosa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650988"/>
            <a:ext cx="12192000" cy="1207135"/>
          </a:xfrm>
          <a:custGeom>
            <a:avLst/>
            <a:gdLst/>
            <a:ahLst/>
            <a:cxnLst/>
            <a:rect l="l" t="t" r="r" b="b"/>
            <a:pathLst>
              <a:path w="12192000" h="1207134">
                <a:moveTo>
                  <a:pt x="12191975" y="1206997"/>
                </a:moveTo>
                <a:lnTo>
                  <a:pt x="0" y="1206997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120699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86129" y="1086061"/>
            <a:ext cx="5859780" cy="64953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/>
              <a:t>O</a:t>
            </a:r>
            <a:r>
              <a:rPr spc="-225" dirty="0"/>
              <a:t> </a:t>
            </a:r>
            <a:r>
              <a:rPr spc="60" dirty="0" err="1"/>
              <a:t>Desafio</a:t>
            </a:r>
            <a:endParaRPr spc="1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163FB-B381-3424-D9C3-78F43B73939A}"/>
              </a:ext>
            </a:extLst>
          </p:cNvPr>
          <p:cNvSpPr txBox="1"/>
          <p:nvPr/>
        </p:nvSpPr>
        <p:spPr>
          <a:xfrm>
            <a:off x="6553200" y="2631463"/>
            <a:ext cx="49488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005088"/>
                </a:solidFill>
                <a:effectLst/>
                <a:latin typeface="Poppins" panose="00000500000000000000" pitchFamily="2" charset="0"/>
              </a:rPr>
              <a:t>Dados Desconectados</a:t>
            </a:r>
          </a:p>
          <a:p>
            <a:pPr algn="l">
              <a:buNone/>
            </a:pPr>
            <a:r>
              <a:rPr lang="pt-PT" b="0" i="0" dirty="0">
                <a:solidFill>
                  <a:srgbClr val="334155"/>
                </a:solidFill>
                <a:effectLst/>
                <a:latin typeface="Lato" panose="020F0502020204030203" pitchFamily="34" charset="0"/>
              </a:rPr>
              <a:t>A ausência de um sistema integrado impede a fidelização eficaz e o controlo real do stock e das vendas do salão.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ACB83-A78E-B813-5DDA-4C299642D826}"/>
              </a:ext>
            </a:extLst>
          </p:cNvPr>
          <p:cNvSpPr txBox="1"/>
          <p:nvPr/>
        </p:nvSpPr>
        <p:spPr>
          <a:xfrm>
            <a:off x="533400" y="2631462"/>
            <a:ext cx="480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005088"/>
                </a:solidFill>
                <a:effectLst/>
                <a:latin typeface="Poppins" panose="00000500000000000000" pitchFamily="2" charset="0"/>
              </a:rPr>
              <a:t>Processos Manuais</a:t>
            </a:r>
          </a:p>
          <a:p>
            <a:pPr algn="l">
              <a:buNone/>
            </a:pPr>
            <a:r>
              <a:rPr lang="pt-PT" b="0" i="0" dirty="0">
                <a:solidFill>
                  <a:srgbClr val="334155"/>
                </a:solidFill>
                <a:effectLst/>
                <a:latin typeface="Lato" panose="020F0502020204030203" pitchFamily="34" charset="0"/>
              </a:rPr>
              <a:t>Uso de agendas de papel, chamadas constantes e falta de histórico centralizado geram erros e perda de produtividade.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650988"/>
            <a:ext cx="12192000" cy="1207135"/>
          </a:xfrm>
          <a:custGeom>
            <a:avLst/>
            <a:gdLst/>
            <a:ahLst/>
            <a:cxnLst/>
            <a:rect l="l" t="t" r="r" b="b"/>
            <a:pathLst>
              <a:path w="12192000" h="1207134">
                <a:moveTo>
                  <a:pt x="12191975" y="1206997"/>
                </a:moveTo>
                <a:lnTo>
                  <a:pt x="0" y="1206997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120699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5598" y="2515454"/>
            <a:ext cx="5859780" cy="1859483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r>
              <a:rPr lang="pt-PT" sz="1600" dirty="0"/>
              <a:t> </a:t>
            </a:r>
            <a:r>
              <a:rPr lang="pt-PT" sz="1600" b="1" dirty="0"/>
              <a:t>Plataforma Web Responsiva</a:t>
            </a:r>
            <a:r>
              <a:rPr lang="pt-PT" sz="1600" dirty="0"/>
              <a:t> para clientes e gestoras.</a:t>
            </a:r>
          </a:p>
          <a:p>
            <a:endParaRPr lang="pt-PT" sz="1600" dirty="0"/>
          </a:p>
          <a:p>
            <a:r>
              <a:rPr lang="pt-PT" sz="1600" dirty="0"/>
              <a:t> </a:t>
            </a:r>
            <a:r>
              <a:rPr lang="pt-PT" sz="1600" b="1" dirty="0"/>
              <a:t>Agendamento Real-Time</a:t>
            </a:r>
            <a:r>
              <a:rPr lang="pt-PT" sz="1600" dirty="0"/>
              <a:t> com consulta de horários livre.</a:t>
            </a:r>
          </a:p>
          <a:p>
            <a:endParaRPr lang="pt-PT" sz="1600" dirty="0"/>
          </a:p>
          <a:p>
            <a:r>
              <a:rPr lang="pt-PT" sz="1600" dirty="0"/>
              <a:t> </a:t>
            </a:r>
            <a:r>
              <a:rPr lang="pt-PT" sz="1600" b="1" dirty="0"/>
              <a:t>Sara AI Stylist</a:t>
            </a:r>
            <a:r>
              <a:rPr lang="pt-PT" sz="1600" dirty="0"/>
              <a:t> para consultoria inteligente.</a:t>
            </a:r>
          </a:p>
          <a:p>
            <a:endParaRPr lang="pt-PT" sz="1600" dirty="0"/>
          </a:p>
          <a:p>
            <a:r>
              <a:rPr lang="pt-PT" sz="1600" dirty="0"/>
              <a:t> </a:t>
            </a:r>
            <a:r>
              <a:rPr lang="pt-PT" sz="1600" b="1" dirty="0"/>
              <a:t>Módulo E-Commerce</a:t>
            </a:r>
            <a:r>
              <a:rPr lang="pt-PT" sz="1600" dirty="0"/>
              <a:t> integrado para venda de produtos.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Objetivo</a:t>
            </a:r>
            <a:r>
              <a:rPr spc="-225" dirty="0"/>
              <a:t> </a:t>
            </a:r>
            <a:r>
              <a:rPr spc="120" dirty="0"/>
              <a:t>do</a:t>
            </a:r>
            <a:r>
              <a:rPr spc="-220" dirty="0"/>
              <a:t> </a:t>
            </a:r>
            <a:r>
              <a:rPr spc="-10" dirty="0"/>
              <a:t>Projeto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066800"/>
            <a:ext cx="338899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60" dirty="0"/>
              <a:t>Arquitetura</a:t>
            </a:r>
            <a:r>
              <a:rPr spc="-229" dirty="0"/>
              <a:t> </a:t>
            </a:r>
            <a:r>
              <a:rPr spc="170" dirty="0"/>
              <a:t>e </a:t>
            </a:r>
            <a:r>
              <a:rPr spc="95" dirty="0"/>
              <a:t>Tecnologias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83552A-D94C-42AC-88AF-E6F216C2D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81" y="2667000"/>
            <a:ext cx="9502837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650988"/>
            <a:ext cx="12192000" cy="1207135"/>
          </a:xfrm>
          <a:custGeom>
            <a:avLst/>
            <a:gdLst/>
            <a:ahLst/>
            <a:cxnLst/>
            <a:rect l="l" t="t" r="r" b="b"/>
            <a:pathLst>
              <a:path w="12192000" h="1207134">
                <a:moveTo>
                  <a:pt x="12191975" y="1206997"/>
                </a:moveTo>
                <a:lnTo>
                  <a:pt x="0" y="1206997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120699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114" dirty="0"/>
              <a:t>Funcionalidades </a:t>
            </a:r>
            <a:r>
              <a:rPr spc="80" dirty="0"/>
              <a:t>Principais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F475A-2B9F-A20B-93FA-BC194F368F7D}"/>
              </a:ext>
            </a:extLst>
          </p:cNvPr>
          <p:cNvSpPr txBox="1"/>
          <p:nvPr/>
        </p:nvSpPr>
        <p:spPr>
          <a:xfrm>
            <a:off x="639419" y="2505670"/>
            <a:ext cx="3276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PT" b="1" i="0" dirty="0">
                <a:solidFill>
                  <a:srgbClr val="005088"/>
                </a:solidFill>
                <a:effectLst/>
                <a:latin typeface="Poppins" panose="00000500000000000000" pitchFamily="2" charset="0"/>
              </a:rPr>
              <a:t>Simulador</a:t>
            </a:r>
          </a:p>
          <a:p>
            <a:pPr algn="ctr">
              <a:buNone/>
            </a:pPr>
            <a:r>
              <a:rPr lang="pt-PT" b="0" i="0" dirty="0">
                <a:solidFill>
                  <a:srgbClr val="334155"/>
                </a:solidFill>
                <a:effectLst/>
                <a:latin typeface="Lato" panose="020F0502020204030203" pitchFamily="34" charset="0"/>
              </a:rPr>
              <a:t>Visualização 2D de cores e padrões em tempo real.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9E85B-6335-215A-A9CA-1E40F5C8CD2B}"/>
              </a:ext>
            </a:extLst>
          </p:cNvPr>
          <p:cNvSpPr txBox="1"/>
          <p:nvPr/>
        </p:nvSpPr>
        <p:spPr>
          <a:xfrm>
            <a:off x="4191000" y="2505670"/>
            <a:ext cx="289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PT" b="1" i="0" dirty="0">
                <a:solidFill>
                  <a:srgbClr val="005088"/>
                </a:solidFill>
                <a:effectLst/>
                <a:latin typeface="Poppins" panose="00000500000000000000" pitchFamily="2" charset="0"/>
              </a:rPr>
              <a:t>Loja Online</a:t>
            </a:r>
          </a:p>
          <a:p>
            <a:pPr algn="ctr">
              <a:buNone/>
            </a:pPr>
            <a:r>
              <a:rPr lang="pt-PT" b="0" i="0" dirty="0">
                <a:solidFill>
                  <a:srgbClr val="334155"/>
                </a:solidFill>
                <a:effectLst/>
                <a:latin typeface="Lato" panose="020F0502020204030203" pitchFamily="34" charset="0"/>
              </a:rPr>
              <a:t>Catálogo completo com gestão de stock automatizada.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A31E6-A60D-0485-7DCE-82C2D491672B}"/>
              </a:ext>
            </a:extLst>
          </p:cNvPr>
          <p:cNvSpPr txBox="1"/>
          <p:nvPr/>
        </p:nvSpPr>
        <p:spPr>
          <a:xfrm>
            <a:off x="8534400" y="2515195"/>
            <a:ext cx="2362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PT" b="1" i="0" dirty="0">
                <a:solidFill>
                  <a:srgbClr val="005088"/>
                </a:solidFill>
                <a:effectLst/>
                <a:latin typeface="Poppins" panose="00000500000000000000" pitchFamily="2" charset="0"/>
              </a:rPr>
              <a:t>Agendamento</a:t>
            </a:r>
          </a:p>
          <a:p>
            <a:pPr algn="ctr">
              <a:buNone/>
            </a:pPr>
            <a:r>
              <a:rPr lang="pt-PT" b="0" i="0" dirty="0">
                <a:solidFill>
                  <a:srgbClr val="334155"/>
                </a:solidFill>
                <a:effectLst/>
                <a:latin typeface="Lato" panose="020F0502020204030203" pitchFamily="34" charset="0"/>
              </a:rPr>
              <a:t>Reserva de serviços combinados com Faturação (simulada).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F5BCB4-A571-7DE3-A1AF-A2BEDB64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29" y="1086061"/>
            <a:ext cx="5859780" cy="615553"/>
          </a:xfrm>
        </p:spPr>
        <p:txBody>
          <a:bodyPr/>
          <a:lstStyle/>
          <a:p>
            <a:r>
              <a:rPr lang="pt-PT" dirty="0"/>
              <a:t>Inovações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4D340A-78B3-CD75-D78F-523213B02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554" y="2438400"/>
            <a:ext cx="4935220" cy="1723549"/>
          </a:xfrm>
        </p:spPr>
        <p:txBody>
          <a:bodyPr/>
          <a:lstStyle/>
          <a:p>
            <a:r>
              <a:rPr lang="pt-PT" dirty="0"/>
              <a:t>A Sara AI não é apenas um chat, é uma consultora de estilo inteligente integrada no fluxo de marcação.</a:t>
            </a:r>
          </a:p>
          <a:p>
            <a:endParaRPr lang="pt-PT" dirty="0"/>
          </a:p>
          <a:p>
            <a:r>
              <a:rPr lang="pt-PT" dirty="0"/>
              <a:t> Sugestões baseadas no catálogo real.</a:t>
            </a:r>
          </a:p>
          <a:p>
            <a:r>
              <a:rPr lang="pt-PT" dirty="0"/>
              <a:t>  Redução da indecisão da cliente.</a:t>
            </a:r>
          </a:p>
          <a:p>
            <a:endParaRPr lang="pt-PT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FD2EFCD-E7B3-EFAC-9C31-1385750B1040}"/>
              </a:ext>
            </a:extLst>
          </p:cNvPr>
          <p:cNvSpPr/>
          <p:nvPr/>
        </p:nvSpPr>
        <p:spPr>
          <a:xfrm>
            <a:off x="0" y="5650988"/>
            <a:ext cx="12192000" cy="1207135"/>
          </a:xfrm>
          <a:custGeom>
            <a:avLst/>
            <a:gdLst/>
            <a:ahLst/>
            <a:cxnLst/>
            <a:rect l="l" t="t" r="r" b="b"/>
            <a:pathLst>
              <a:path w="12192000" h="1207134">
                <a:moveTo>
                  <a:pt x="12191975" y="1206997"/>
                </a:moveTo>
                <a:lnTo>
                  <a:pt x="0" y="1206997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120699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475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054" y="214819"/>
            <a:ext cx="1402687" cy="28053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5650988"/>
            <a:ext cx="12192000" cy="1207135"/>
          </a:xfrm>
          <a:custGeom>
            <a:avLst/>
            <a:gdLst/>
            <a:ahLst/>
            <a:cxnLst/>
            <a:rect l="l" t="t" r="r" b="b"/>
            <a:pathLst>
              <a:path w="12192000" h="1207134">
                <a:moveTo>
                  <a:pt x="12191975" y="1206997"/>
                </a:moveTo>
                <a:lnTo>
                  <a:pt x="0" y="1206997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120699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Demonstração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650988"/>
            <a:ext cx="12192000" cy="1207135"/>
          </a:xfrm>
          <a:custGeom>
            <a:avLst/>
            <a:gdLst/>
            <a:ahLst/>
            <a:cxnLst/>
            <a:rect l="l" t="t" r="r" b="b"/>
            <a:pathLst>
              <a:path w="12192000" h="1207134">
                <a:moveTo>
                  <a:pt x="12191975" y="1206997"/>
                </a:moveTo>
                <a:lnTo>
                  <a:pt x="0" y="1206997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120699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5599" y="2515454"/>
            <a:ext cx="5027930" cy="1156727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5599" indent="-342900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10209" algn="l"/>
              </a:tabLst>
            </a:pPr>
            <a:r>
              <a:rPr lang="pt-PT" sz="1600" dirty="0">
                <a:latin typeface="Lucida Sans"/>
                <a:cs typeface="Lucida Sans"/>
              </a:rPr>
              <a:t>Pagamentos funcionais</a:t>
            </a:r>
          </a:p>
          <a:p>
            <a:pPr marL="355599" indent="-342900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10209" algn="l"/>
              </a:tabLst>
            </a:pPr>
            <a:r>
              <a:rPr lang="pt-PT" sz="1600" dirty="0">
                <a:latin typeface="Lucida Sans"/>
                <a:cs typeface="Lucida Sans"/>
              </a:rPr>
              <a:t>Aplicação móvel</a:t>
            </a:r>
          </a:p>
          <a:p>
            <a:pPr marL="355599" indent="-342900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10209" algn="l"/>
              </a:tabLst>
            </a:pPr>
            <a:r>
              <a:rPr lang="pt-PT" sz="1600" dirty="0">
                <a:latin typeface="Lucida Sans"/>
                <a:cs typeface="Lucida Sans"/>
              </a:rPr>
              <a:t>Mais ferramentas de IA</a:t>
            </a:r>
            <a:endParaRPr sz="16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155" dirty="0"/>
              <a:t>Conclusão</a:t>
            </a:r>
            <a:r>
              <a:rPr spc="-220" dirty="0"/>
              <a:t> </a:t>
            </a:r>
            <a:r>
              <a:rPr spc="170" dirty="0"/>
              <a:t>e </a:t>
            </a:r>
            <a:r>
              <a:rPr spc="135" dirty="0"/>
              <a:t>Perspetivas</a:t>
            </a:r>
            <a:r>
              <a:rPr spc="-190" dirty="0"/>
              <a:t> </a:t>
            </a:r>
            <a:r>
              <a:rPr spc="70" dirty="0"/>
              <a:t>Futuras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8174" y="3185245"/>
            <a:ext cx="589851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55" dirty="0">
                <a:solidFill>
                  <a:srgbClr val="FFFFFF"/>
                </a:solidFill>
                <a:latin typeface="Arial Black"/>
                <a:cs typeface="Arial Black"/>
              </a:rPr>
              <a:t>Obrigado</a:t>
            </a:r>
            <a:endParaRPr sz="9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5955" y="4750040"/>
            <a:ext cx="5524500" cy="0"/>
          </a:xfrm>
          <a:custGeom>
            <a:avLst/>
            <a:gdLst/>
            <a:ahLst/>
            <a:cxnLst/>
            <a:rect l="l" t="t" r="r" b="b"/>
            <a:pathLst>
              <a:path w="5524500">
                <a:moveTo>
                  <a:pt x="0" y="0"/>
                </a:moveTo>
                <a:lnTo>
                  <a:pt x="5523981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955" y="925973"/>
            <a:ext cx="1980063" cy="3953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194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Lato</vt:lpstr>
      <vt:lpstr>Lucida Sans</vt:lpstr>
      <vt:lpstr>Lucida Sans Unicode</vt:lpstr>
      <vt:lpstr>Poppins</vt:lpstr>
      <vt:lpstr>Office Theme</vt:lpstr>
      <vt:lpstr>PowerPoint Presentation</vt:lpstr>
      <vt:lpstr>O Desafio</vt:lpstr>
      <vt:lpstr>Objetivo do Projeto</vt:lpstr>
      <vt:lpstr>Arquitetura e Tecnologias</vt:lpstr>
      <vt:lpstr>Funcionalidades Principais</vt:lpstr>
      <vt:lpstr>Inovações</vt:lpstr>
      <vt:lpstr>Demonstração</vt:lpstr>
      <vt:lpstr>Conclusão e Perspetivas Futuras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CountLight PP Apresentação</dc:title>
  <dc:creator>João Freitas</dc:creator>
  <cp:lastModifiedBy>João Freitas</cp:lastModifiedBy>
  <cp:revision>1</cp:revision>
  <dcterms:created xsi:type="dcterms:W3CDTF">2026-05-13T21:39:28Z</dcterms:created>
  <dcterms:modified xsi:type="dcterms:W3CDTF">2026-05-13T21:52:27Z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2026-05-13T00:00:00Z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2026-05-13T00:00:00Z</vt:filetime>
  </property>
  <property fmtid="{D5CDD505-2E9C-101B-9397-08002B2CF9AE}" pid="5" name="Producer">
    <vt:lpwstr>3-Heights(TM) PDF Security Shell 4.8.25.2 (http://www.pdf-tools.com)</vt:lpwstr>
  </property>
</Properties>
</file>